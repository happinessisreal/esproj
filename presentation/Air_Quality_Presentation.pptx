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868680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868680"/>
            <a:ext cx="182880" cy="182880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86868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868680"/>
            <a:ext cx="182880" cy="1828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4520" y="868680"/>
            <a:ext cx="182880" cy="18288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48840" y="868680"/>
            <a:ext cx="182880" cy="182880"/>
          </a:xfrm>
          <a:prstGeom prst="ellipse">
            <a:avLst/>
          </a:prstGeom>
          <a:solidFill>
            <a:srgbClr val="7E0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Smart Air Quality Monitoring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&amp;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CFE6EA"/>
                </a:solidFill>
                <a:latin typeface="Calibri"/>
              </a:rPr>
              <a:t>A low-cost, open-data approach for Dhaka using OpenAQ + Machine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97680"/>
            <a:ext cx="3017520" cy="41148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Lutful Ahmed Nadim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Mysha Maliha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Jannatun Nayem Aurpy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Alvee Ahnaf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61772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Meher Nigar Anonna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Raisul Islam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Abdullah Al Yamin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Tahmid Alam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FA8B5"/>
                </a:solidFill>
                <a:latin typeface="Calibri"/>
              </a:rPr>
              <a:t>Project 01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The Problem: Dhaka's 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4173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One of the world's most polluted megacities — yet citizens lack affordable, real-time, predictive air-quality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286000"/>
            <a:ext cx="3200400" cy="22860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4168" y="2606040"/>
            <a:ext cx="201168" cy="201168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297180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0F2434"/>
                </a:solidFill>
                <a:latin typeface="Georgia"/>
              </a:rPr>
              <a:t>68–78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388620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µg/m³ annual PM2.5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7448" y="2286000"/>
            <a:ext cx="3200400" cy="22860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47488" y="2606040"/>
            <a:ext cx="201168" cy="201168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297180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0F2434"/>
                </a:solidFill>
                <a:latin typeface="Georgia"/>
              </a:rPr>
              <a:t>≈ 15×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388620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the WHO safe limit (5 µg/m³)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7" y="2286000"/>
            <a:ext cx="3200400" cy="22860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50807" y="2606040"/>
            <a:ext cx="201168" cy="20116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7" y="297180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0F2434"/>
                </a:solidFill>
                <a:latin typeface="Georgia"/>
              </a:rPr>
              <a:t>Top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5" y="388620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most polluted cities, globally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983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Pollution peaks in the dry winter months, driven by brick kilns, road and construction dust, vehicle exhaust, and household combustion.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Sources: WHO 2021; IQAir; The Business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1600200"/>
            <a:ext cx="4983480" cy="13258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98448" y="1892807"/>
            <a:ext cx="457200" cy="457200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80136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Acquire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2203704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Real, continuous hourly readings for multiple Dhaka locations.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600200"/>
            <a:ext cx="4983480" cy="13258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39128" y="1892807"/>
            <a:ext cx="457200" cy="457200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180136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Standard AQI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2203704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Compute the Air Quality Index from PM2.5 (U.S. EPA 2024).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246120"/>
            <a:ext cx="4983480" cy="13258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98448" y="3538727"/>
            <a:ext cx="457200" cy="457200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3520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44728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849624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Nowcast next-hour PM2.5 / AQI with machine learning.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4808" y="3246120"/>
            <a:ext cx="4983480" cy="13258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39128" y="3538727"/>
            <a:ext cx="457200" cy="457200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3520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344728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3849624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Benchmark models with MAE, RMSE and R² on unseen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892040"/>
            <a:ext cx="4983480" cy="13258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98448" y="5184648"/>
            <a:ext cx="457200" cy="457200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51663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5093207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Visualise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5495544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An interactive dashboard: live readings, trends, validation, forecast.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64808" y="4892040"/>
            <a:ext cx="4983480" cy="13258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39128" y="5184648"/>
            <a:ext cx="457200" cy="457200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8" y="51663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5093207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Low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5495544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 reproducible alternative to custom IoT hardware via open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From Costly Hardware to Open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1600200"/>
            <a:ext cx="4572000" cy="420624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Original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F2434"/>
                </a:solidFill>
                <a:latin typeface="Georgia"/>
              </a:rPr>
              <a:t>Custom IoT sensor nodes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017520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90779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ESP32 + PM2.5 / CO₂ / DHT sensors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584448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347472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Soldering, enclosures, power, Wi-Fi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151376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404164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Manual calibration vs. reference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718304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4608576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Expensive &amp; fragile for a city-scale net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79008" y="3383280"/>
            <a:ext cx="640080" cy="640080"/>
          </a:xfrm>
          <a:prstGeom prst="rightArrow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1600200"/>
            <a:ext cx="4572000" cy="4206240"/>
          </a:xfrm>
          <a:prstGeom prst="round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87451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FC8D2"/>
                </a:solidFill>
                <a:latin typeface="Calibri"/>
              </a:rPr>
              <a:t>Our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228600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Open data via OpenAQ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301752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290779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E6EA"/>
                </a:solidFill>
                <a:latin typeface="Calibri"/>
              </a:rPr>
              <a:t>Real monitors already deployed in Dhaka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584448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7184" y="347472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E6EA"/>
                </a:solidFill>
                <a:latin typeface="Calibri"/>
              </a:rPr>
              <a:t>Pulled through the OpenAQ v3 API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4151376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4" y="404164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E6EA"/>
                </a:solidFill>
                <a:latin typeface="Calibri"/>
              </a:rPr>
              <a:t>Multiple nodes, multi-pollutant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718304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4" y="4608576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E6EA"/>
                </a:solidFill>
                <a:latin typeface="Calibri"/>
              </a:rPr>
              <a:t>Zero hardware cost, instant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Same data-to-dashboard learning objectives — without the cost and calibration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0031" y="2377440"/>
            <a:ext cx="1627632" cy="1463040"/>
          </a:xfrm>
          <a:prstGeom prst="round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759" y="2633472"/>
            <a:ext cx="14081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Deployed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IoT monitors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471" y="395020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Dhaka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46807" y="2999232"/>
            <a:ext cx="182880" cy="219456"/>
          </a:xfrm>
          <a:prstGeom prst="rightArrow">
            <a:avLst/>
          </a:prstGeom>
          <a:solidFill>
            <a:srgbClr val="9AB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38831" y="2377440"/>
            <a:ext cx="1627632" cy="1463040"/>
          </a:xfrm>
          <a:prstGeom prst="round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8559" y="2633472"/>
            <a:ext cx="14081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OpenAQ v3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0271" y="395020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data source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75607" y="2999232"/>
            <a:ext cx="182880" cy="219456"/>
          </a:xfrm>
          <a:prstGeom prst="rightArrow">
            <a:avLst/>
          </a:prstGeom>
          <a:solidFill>
            <a:srgbClr val="9AB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7631" y="2377440"/>
            <a:ext cx="1627632" cy="1463040"/>
          </a:xfrm>
          <a:prstGeom prst="roundRect">
            <a:avLst/>
          </a:prstGeom>
          <a:solidFill>
            <a:srgbClr val="0C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7359" y="2633472"/>
            <a:ext cx="14081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Python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9071" y="395020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clean → AQI → features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4407" y="2999232"/>
            <a:ext cx="182880" cy="219456"/>
          </a:xfrm>
          <a:prstGeom prst="rightArrow">
            <a:avLst/>
          </a:prstGeom>
          <a:solidFill>
            <a:srgbClr val="9AB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6431" y="2377440"/>
            <a:ext cx="1627632" cy="1463040"/>
          </a:xfrm>
          <a:prstGeom prst="roundRect">
            <a:avLst/>
          </a:prstGeom>
          <a:solidFill>
            <a:srgbClr val="0C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6159" y="2633472"/>
            <a:ext cx="14081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395020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LR / RF nowcast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33207" y="2999232"/>
            <a:ext cx="182880" cy="219456"/>
          </a:xfrm>
          <a:prstGeom prst="rightArrow">
            <a:avLst/>
          </a:prstGeom>
          <a:solidFill>
            <a:srgbClr val="9AB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5231" y="2377440"/>
            <a:ext cx="1627632" cy="1463040"/>
          </a:xfrm>
          <a:prstGeom prst="roundRect">
            <a:avLst/>
          </a:prstGeom>
          <a:solidFill>
            <a:srgbClr val="15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4959" y="2633472"/>
            <a:ext cx="14081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Flask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6671" y="395020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JSON endpoints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62007" y="2999232"/>
            <a:ext cx="182880" cy="219456"/>
          </a:xfrm>
          <a:prstGeom prst="rightArrow">
            <a:avLst/>
          </a:prstGeom>
          <a:solidFill>
            <a:srgbClr val="9AB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54031" y="2377440"/>
            <a:ext cx="1627632" cy="1463040"/>
          </a:xfrm>
          <a:prstGeom prst="roundRect">
            <a:avLst/>
          </a:prstGeom>
          <a:solidFill>
            <a:srgbClr val="15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3759" y="2633472"/>
            <a:ext cx="14081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Web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5471" y="395020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Chart.js + Leaflet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The expensive custom-hardware sensing layer is replaced by open data from monitors already operating across the city — everything downstream is unchanged.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1554480"/>
            <a:ext cx="4983480" cy="128016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1554480"/>
            <a:ext cx="128016" cy="1280160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1737360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Data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157984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Hourly PM2.5 (+ PM10/PM1/temp/humidity) from OpenAQ v3 nodes.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4808" y="1554480"/>
            <a:ext cx="4983480" cy="128016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4808" y="1554480"/>
            <a:ext cx="128016" cy="1280160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737360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2157984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Regular hourly index; drop nulls, noise and implausible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36391"/>
            <a:ext cx="4983480" cy="128016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4128" y="3136391"/>
            <a:ext cx="128016" cy="1280160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319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AQI computation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739896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EPA 2024 breakpoints; worst-pollutant (dominant) rule.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4808" y="3136391"/>
            <a:ext cx="4983480" cy="128016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4808" y="3136391"/>
            <a:ext cx="128016" cy="1280160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3319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3739896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Hour-of-day, day-of-week and lagged PM2.5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4718304"/>
            <a:ext cx="4983480" cy="128016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4128" y="4718304"/>
            <a:ext cx="128016" cy="1280160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4901184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Modelling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3218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Linear Regression vs. Random Forest; time-based train/test split.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8" y="4718304"/>
            <a:ext cx="4983480" cy="128016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64808" y="4718304"/>
            <a:ext cx="128016" cy="1280160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901184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2434"/>
                </a:solidFill>
                <a:latin typeface="Calibri"/>
              </a:rP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53218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MAE, RMSE and R² on the unseen, most-recent tail.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Data &amp; Exploratory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1645920"/>
            <a:ext cx="3200400" cy="9144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64792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C6B75"/>
                </a:solidFill>
                <a:latin typeface="Georgia"/>
              </a:rPr>
              <a:t>4,256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764792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hourly samples (modelling)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2697480"/>
            <a:ext cx="3200400" cy="9144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16352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C6B75"/>
                </a:solidFill>
                <a:latin typeface="Georgia"/>
              </a:rPr>
              <a:t>PM2.5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816352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primary; + PM1, temp, humidity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3749039"/>
            <a:ext cx="3200400" cy="9144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867911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C6B75"/>
                </a:solidFill>
                <a:latin typeface="Georgia"/>
              </a:rPr>
              <a:t>Uttara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867911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primary continuous node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800600"/>
            <a:ext cx="3200400" cy="9144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919472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C6B75"/>
                </a:solidFill>
                <a:latin typeface="Georgia"/>
              </a:rPr>
              <a:t>Hourly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919472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temporal resolution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2314838"/>
            <a:ext cx="6912864" cy="222832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87990"/>
            <a:ext cx="6766560" cy="20820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63440" y="525780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PM2.5 over time and the clear diurnal cycle the lag features exploit.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Model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691640"/>
            <a:ext cx="2286000" cy="566928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69164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691640"/>
            <a:ext cx="1097280" cy="566928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69164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PM2.5 MAE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1691640"/>
            <a:ext cx="1234440" cy="566928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691640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PM2.5 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41848" y="1691640"/>
            <a:ext cx="1005840" cy="566928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1691640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PM2.5 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1691640"/>
            <a:ext cx="1005840" cy="566928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7" y="1691640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AQI MAE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2258568"/>
            <a:ext cx="2286000" cy="566928"/>
          </a:xfrm>
          <a:prstGeom prst="rect">
            <a:avLst/>
          </a:prstGeom>
          <a:solidFill>
            <a:srgbClr val="E7F4F2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25856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A37"/>
                </a:solidFill>
                <a:latin typeface="Calibri"/>
              </a:rPr>
              <a:t>Linear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2258568"/>
            <a:ext cx="1097280" cy="566928"/>
          </a:xfrm>
          <a:prstGeom prst="rect">
            <a:avLst/>
          </a:prstGeom>
          <a:solidFill>
            <a:srgbClr val="E7F4F2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258568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A37"/>
                </a:solidFill>
                <a:latin typeface="Calibri"/>
              </a:rPr>
              <a:t>7.45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2258568"/>
            <a:ext cx="1234440" cy="566928"/>
          </a:xfrm>
          <a:prstGeom prst="rect">
            <a:avLst/>
          </a:prstGeom>
          <a:solidFill>
            <a:srgbClr val="E7F4F2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22585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A37"/>
                </a:solidFill>
                <a:latin typeface="Calibri"/>
              </a:rPr>
              <a:t>11.88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41848" y="2258568"/>
            <a:ext cx="1005840" cy="566928"/>
          </a:xfrm>
          <a:prstGeom prst="rect">
            <a:avLst/>
          </a:prstGeom>
          <a:solidFill>
            <a:srgbClr val="E7F4F2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8" y="2258568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A37"/>
                </a:solidFill>
                <a:latin typeface="Calibri"/>
              </a:rPr>
              <a:t>0.738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7688" y="2258568"/>
            <a:ext cx="1005840" cy="566928"/>
          </a:xfrm>
          <a:prstGeom prst="rect">
            <a:avLst/>
          </a:prstGeom>
          <a:solidFill>
            <a:srgbClr val="E7F4F2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7" y="2258568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A37"/>
                </a:solidFill>
                <a:latin typeface="Calibri"/>
              </a:rPr>
              <a:t>11.73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282549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2825496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A37"/>
                </a:solidFill>
                <a:latin typeface="Calibri"/>
              </a:rPr>
              <a:t>Random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2825496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2825496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8.05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2825496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2825496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12.53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41848" y="2825496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33288" y="2825496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0.708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47688" y="2825496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7" y="2825496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12.47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" y="3703320"/>
            <a:ext cx="6537960" cy="13716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25880" y="4023360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388620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2434"/>
                </a:solidFill>
                <a:latin typeface="Georgia"/>
              </a:rPr>
              <a:t>Best model: Linear Regression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437083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R² = 0.74  ·  PM2.5 MAE = 7.45 µg/m³ — a simple baseline wins.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62088" y="2746940"/>
            <a:ext cx="4032504" cy="191275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catter_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820092"/>
            <a:ext cx="3886200" cy="176645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4128" y="5349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Predicted values track the ideal diagonal closely for both PM2.5 and AQI on unseen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Validation: Actual vs. Predicted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" y="1713444"/>
            <a:ext cx="9930384" cy="315679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ual_vs_pred_pm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86596"/>
            <a:ext cx="9784080" cy="30104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512064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On the held-out test tail, predicted PM2.5 tracks the real series closely, capturing both calm periods and pollution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Flask + Chart.js + Leaflet — served straight from the model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103120"/>
            <a:ext cx="3291840" cy="15544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98448" y="2377439"/>
            <a:ext cx="256032" cy="256032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76148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2434"/>
                </a:solidFill>
                <a:latin typeface="Calibri"/>
              </a:rPr>
              <a:t>Live AQI orb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2724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Colour-coded current index + latest PM2.5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2103120"/>
            <a:ext cx="3291840" cy="15544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10328" y="2377439"/>
            <a:ext cx="256032" cy="256032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276148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2434"/>
                </a:solidFill>
                <a:latin typeface="Calibri"/>
              </a:rPr>
              <a:t>City sensor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312724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Every node, every channel, worst-pollutant AQI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2103120"/>
            <a:ext cx="3291840" cy="15544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22208" y="2377439"/>
            <a:ext cx="256032" cy="256032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76148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2434"/>
                </a:solidFill>
                <a:latin typeface="Calibri"/>
              </a:rPr>
              <a:t>Area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12724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30-day daily means, switchable per pollutant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3977639"/>
            <a:ext cx="3291840" cy="15544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8448" y="4251959"/>
            <a:ext cx="256032" cy="256032"/>
          </a:xfrm>
          <a:prstGeom prst="ellipse">
            <a:avLst/>
          </a:prstGeom>
          <a:solidFill>
            <a:srgbClr val="0C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63600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2434"/>
                </a:solidFill>
                <a:latin typeface="Calibri"/>
              </a:rPr>
              <a:t>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500176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7-day / 30-day / 1-year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6008" y="3977639"/>
            <a:ext cx="3291840" cy="15544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0328" y="4251959"/>
            <a:ext cx="256032" cy="25603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463600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2434"/>
                </a:solidFill>
                <a:latin typeface="Calibri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500176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Actual vs. predicted on the test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977639"/>
            <a:ext cx="3291840" cy="155448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22208" y="4251959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463600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2434"/>
                </a:solidFill>
                <a:latin typeface="Calibri"/>
              </a:rPr>
              <a:t>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500176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Recursive next 12 / 24 / 48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Meets and exceeds the brief — the map and forecast were listed as optional/advanced.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57784"/>
            <a:ext cx="237744" cy="237744"/>
          </a:xfrm>
          <a:prstGeom prst="ellipse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37"/>
                </a:solidFill>
                <a:latin typeface="Georgia"/>
              </a:rPr>
              <a:t>Insights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1645920"/>
            <a:ext cx="4983480" cy="4114800"/>
          </a:xfrm>
          <a:prstGeom prst="roundRect">
            <a:avLst/>
          </a:prstGeom>
          <a:solidFill>
            <a:srgbClr val="E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C6B75"/>
                </a:solidFill>
                <a:latin typeface="Georgia"/>
              </a:rPr>
              <a:t>What we learned</a:t>
            </a:r>
          </a:p>
        </p:txBody>
      </p:sp>
      <p:sp>
        <p:nvSpPr>
          <p:cNvPr id="7" name="Oval 6"/>
          <p:cNvSpPr/>
          <p:nvPr/>
        </p:nvSpPr>
        <p:spPr>
          <a:xfrm>
            <a:off x="1417320" y="2606040"/>
            <a:ext cx="118872" cy="118872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48716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A simple Linear Regression matched / beat Random Forest.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3319272"/>
            <a:ext cx="118872" cy="118872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20040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Lagged PM2.5 is the dominant predictor of the next hour.</a:t>
            </a:r>
          </a:p>
        </p:txBody>
      </p:sp>
      <p:sp>
        <p:nvSpPr>
          <p:cNvPr id="11" name="Oval 10"/>
          <p:cNvSpPr/>
          <p:nvPr/>
        </p:nvSpPr>
        <p:spPr>
          <a:xfrm>
            <a:off x="1417320" y="4032504"/>
            <a:ext cx="118872" cy="118872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913632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Open data can power a real, city-scale system.</a:t>
            </a:r>
          </a:p>
        </p:txBody>
      </p:sp>
      <p:sp>
        <p:nvSpPr>
          <p:cNvPr id="13" name="Oval 12"/>
          <p:cNvSpPr/>
          <p:nvPr/>
        </p:nvSpPr>
        <p:spPr>
          <a:xfrm>
            <a:off x="1417320" y="4745736"/>
            <a:ext cx="118872" cy="118872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4626864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Model complexity must be justified by the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45920"/>
            <a:ext cx="4983480" cy="4114800"/>
          </a:xfrm>
          <a:prstGeom prst="round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74C3C"/>
                </a:solidFill>
                <a:latin typeface="Georgia"/>
              </a:rPr>
              <a:t>Limitations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606040"/>
            <a:ext cx="118872" cy="118872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48716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No CO₂ / gaseous pollutants (low-cost nodes report particulates).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319272"/>
            <a:ext cx="118872" cy="118872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20040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No physical sensor node built (hardware out of scope).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4032504"/>
            <a:ext cx="118872" cy="118872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913632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One-hour nowcast horizon, not multi-day.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745736"/>
            <a:ext cx="118872" cy="118872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626864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Single city; development-grade server.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777240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777240"/>
            <a:ext cx="182880" cy="182880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77724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777240"/>
            <a:ext cx="182880" cy="1828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4520" y="777240"/>
            <a:ext cx="182880" cy="18288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48840" y="777240"/>
            <a:ext cx="182880" cy="182880"/>
          </a:xfrm>
          <a:prstGeom prst="ellipse">
            <a:avLst/>
          </a:prstGeom>
          <a:solidFill>
            <a:srgbClr val="7E0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Conclusion &amp;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FE6EA"/>
                </a:solidFill>
                <a:latin typeface="Calibri"/>
              </a:rPr>
              <a:t>A complete, low-cost air-quality monitoring + prediction system for Dhaka — open data in, EPA-standard AQI, ML nowcast (R² 0.74), live dashboard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FC8D2"/>
                </a:solidFill>
                <a:latin typeface="Calibri"/>
              </a:rPr>
              <a:t>Future work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050791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Add gases (NO₂/SO₂/O₃/CO) via reference stations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636008"/>
            <a:ext cx="109728" cy="109728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452627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Optional: deploy own calibrated low-cost nodes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111496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50017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Try gradient boosting / LSTM on richer features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586983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547725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Multi-hour forecasts, health alerts, public 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172200"/>
            <a:ext cx="10515600" cy="27432"/>
          </a:xfrm>
          <a:prstGeom prst="rect">
            <a:avLst/>
          </a:prstGeom>
          <a:solidFill>
            <a:srgbClr val="12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Thank you  ·  </a:t>
            </a:r>
            <a:r>
              <a:rPr sz="1250" b="0" i="0">
                <a:solidFill>
                  <a:srgbClr val="8FA8B5"/>
                </a:solidFill>
                <a:latin typeface="Calibri"/>
              </a:rPr>
              <a:t>Team of 8  ·  Project 01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